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1" r:id="rId2"/>
    <p:sldId id="267" r:id="rId3"/>
    <p:sldId id="268" r:id="rId4"/>
    <p:sldId id="269" r:id="rId5"/>
    <p:sldId id="270" r:id="rId6"/>
    <p:sldId id="260" r:id="rId7"/>
    <p:sldId id="265" r:id="rId8"/>
    <p:sldId id="266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9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07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3D95AA-FDF4-E32C-A399-09D3A9EE8A4B}"/>
              </a:ext>
            </a:extLst>
          </p:cNvPr>
          <p:cNvSpPr txBox="1"/>
          <p:nvPr/>
        </p:nvSpPr>
        <p:spPr>
          <a:xfrm>
            <a:off x="479161" y="2683092"/>
            <a:ext cx="8182230" cy="1265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 Incident Log Automation Dashboard </a:t>
            </a:r>
          </a:p>
        </p:txBody>
      </p:sp>
      <p:pic>
        <p:nvPicPr>
          <p:cNvPr id="4" name="Picture 3" descr="A colorful logo with text&#10;&#10;AI-generated content may be incorrect.">
            <a:extLst>
              <a:ext uri="{FF2B5EF4-FFF2-40B4-BE49-F238E27FC236}">
                <a16:creationId xmlns:a16="http://schemas.microsoft.com/office/drawing/2014/main" id="{839FF60A-85F7-1197-F878-2E17735E1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508" y="443752"/>
            <a:ext cx="2745537" cy="2056503"/>
          </a:xfrm>
          <a:prstGeom prst="rect">
            <a:avLst/>
          </a:pr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4131789"/>
            <a:ext cx="3429000" cy="13716"/>
          </a:xfrm>
          <a:custGeom>
            <a:avLst/>
            <a:gdLst>
              <a:gd name="connsiteX0" fmla="*/ 0 w 3429000"/>
              <a:gd name="connsiteY0" fmla="*/ 0 h 13716"/>
              <a:gd name="connsiteX1" fmla="*/ 685800 w 3429000"/>
              <a:gd name="connsiteY1" fmla="*/ 0 h 13716"/>
              <a:gd name="connsiteX2" fmla="*/ 1371600 w 3429000"/>
              <a:gd name="connsiteY2" fmla="*/ 0 h 13716"/>
              <a:gd name="connsiteX3" fmla="*/ 2057400 w 3429000"/>
              <a:gd name="connsiteY3" fmla="*/ 0 h 13716"/>
              <a:gd name="connsiteX4" fmla="*/ 2674620 w 3429000"/>
              <a:gd name="connsiteY4" fmla="*/ 0 h 13716"/>
              <a:gd name="connsiteX5" fmla="*/ 3429000 w 3429000"/>
              <a:gd name="connsiteY5" fmla="*/ 0 h 13716"/>
              <a:gd name="connsiteX6" fmla="*/ 3429000 w 3429000"/>
              <a:gd name="connsiteY6" fmla="*/ 13716 h 13716"/>
              <a:gd name="connsiteX7" fmla="*/ 2811780 w 3429000"/>
              <a:gd name="connsiteY7" fmla="*/ 13716 h 13716"/>
              <a:gd name="connsiteX8" fmla="*/ 2228850 w 3429000"/>
              <a:gd name="connsiteY8" fmla="*/ 13716 h 13716"/>
              <a:gd name="connsiteX9" fmla="*/ 1543050 w 3429000"/>
              <a:gd name="connsiteY9" fmla="*/ 13716 h 13716"/>
              <a:gd name="connsiteX10" fmla="*/ 925830 w 3429000"/>
              <a:gd name="connsiteY10" fmla="*/ 13716 h 13716"/>
              <a:gd name="connsiteX11" fmla="*/ 0 w 3429000"/>
              <a:gd name="connsiteY11" fmla="*/ 13716 h 13716"/>
              <a:gd name="connsiteX12" fmla="*/ 0 w 3429000"/>
              <a:gd name="connsiteY12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3716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214" y="4075"/>
                  <a:pt x="3429316" y="9784"/>
                  <a:pt x="3429000" y="13716"/>
                </a:cubicBezTo>
                <a:cubicBezTo>
                  <a:pt x="3221081" y="44036"/>
                  <a:pt x="3088001" y="3494"/>
                  <a:pt x="2811780" y="13716"/>
                </a:cubicBezTo>
                <a:cubicBezTo>
                  <a:pt x="2535559" y="23938"/>
                  <a:pt x="2481355" y="20326"/>
                  <a:pt x="2228850" y="13716"/>
                </a:cubicBezTo>
                <a:cubicBezTo>
                  <a:pt x="1976345" y="7107"/>
                  <a:pt x="1807520" y="43784"/>
                  <a:pt x="1543050" y="13716"/>
                </a:cubicBezTo>
                <a:cubicBezTo>
                  <a:pt x="1278580" y="-16352"/>
                  <a:pt x="1181944" y="551"/>
                  <a:pt x="925830" y="13716"/>
                </a:cubicBezTo>
                <a:cubicBezTo>
                  <a:pt x="669716" y="26881"/>
                  <a:pt x="410304" y="30243"/>
                  <a:pt x="0" y="13716"/>
                </a:cubicBezTo>
                <a:cubicBezTo>
                  <a:pt x="-535" y="8247"/>
                  <a:pt x="-201" y="2959"/>
                  <a:pt x="0" y="0"/>
                </a:cubicBezTo>
                <a:close/>
              </a:path>
              <a:path w="3429000" h="13716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8434" y="5320"/>
                  <a:pt x="3428676" y="9001"/>
                  <a:pt x="3429000" y="13716"/>
                </a:cubicBezTo>
                <a:cubicBezTo>
                  <a:pt x="3103464" y="-3979"/>
                  <a:pt x="2887909" y="18368"/>
                  <a:pt x="2743200" y="13716"/>
                </a:cubicBezTo>
                <a:cubicBezTo>
                  <a:pt x="2598491" y="9064"/>
                  <a:pt x="2362615" y="6084"/>
                  <a:pt x="1988820" y="13716"/>
                </a:cubicBezTo>
                <a:cubicBezTo>
                  <a:pt x="1615025" y="21348"/>
                  <a:pt x="1580494" y="-880"/>
                  <a:pt x="1405890" y="13716"/>
                </a:cubicBezTo>
                <a:cubicBezTo>
                  <a:pt x="1231286" y="28312"/>
                  <a:pt x="885259" y="-20857"/>
                  <a:pt x="651510" y="13716"/>
                </a:cubicBezTo>
                <a:cubicBezTo>
                  <a:pt x="417761" y="48289"/>
                  <a:pt x="138362" y="-18428"/>
                  <a:pt x="0" y="13716"/>
                </a:cubicBezTo>
                <a:cubicBezTo>
                  <a:pt x="58" y="7834"/>
                  <a:pt x="453" y="583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B2E950-F572-979B-47D6-5E3DA9695B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6309"/>
          <a:stretch>
            <a:fillRect/>
          </a:stretch>
        </p:blipFill>
        <p:spPr>
          <a:xfrm>
            <a:off x="342900" y="342900"/>
            <a:ext cx="84582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97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D84FBA-063C-715A-54B8-3DD42F7B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146BF4-61CF-0703-2512-8E7FF58C6B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5890"/>
          <a:stretch>
            <a:fillRect/>
          </a:stretch>
        </p:blipFill>
        <p:spPr>
          <a:xfrm>
            <a:off x="342900" y="342900"/>
            <a:ext cx="84582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000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03E67-2E3F-E14F-F585-D0652D65F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92CF2-6EBE-3AB4-8E68-E83D0C0C15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6723"/>
          <a:stretch>
            <a:fillRect/>
          </a:stretch>
        </p:blipFill>
        <p:spPr>
          <a:xfrm>
            <a:off x="342900" y="342900"/>
            <a:ext cx="84582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0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DC13B-ED26-517A-2BB0-B9987C66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EC5A5E-0761-1ECF-88D0-AEB18214B7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5468"/>
          <a:stretch>
            <a:fillRect/>
          </a:stretch>
        </p:blipFill>
        <p:spPr>
          <a:xfrm>
            <a:off x="342900" y="342900"/>
            <a:ext cx="84582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49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 Insights &amp; Recommendations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onnsiteX0" fmla="*/ 0 w 8140446"/>
              <a:gd name="connsiteY0" fmla="*/ 0 h 13716"/>
              <a:gd name="connsiteX1" fmla="*/ 434157 w 8140446"/>
              <a:gd name="connsiteY1" fmla="*/ 0 h 13716"/>
              <a:gd name="connsiteX2" fmla="*/ 1193932 w 8140446"/>
              <a:gd name="connsiteY2" fmla="*/ 0 h 13716"/>
              <a:gd name="connsiteX3" fmla="*/ 1628089 w 8140446"/>
              <a:gd name="connsiteY3" fmla="*/ 0 h 13716"/>
              <a:gd name="connsiteX4" fmla="*/ 2225055 w 8140446"/>
              <a:gd name="connsiteY4" fmla="*/ 0 h 13716"/>
              <a:gd name="connsiteX5" fmla="*/ 3066235 w 8140446"/>
              <a:gd name="connsiteY5" fmla="*/ 0 h 13716"/>
              <a:gd name="connsiteX6" fmla="*/ 3744605 w 8140446"/>
              <a:gd name="connsiteY6" fmla="*/ 0 h 13716"/>
              <a:gd name="connsiteX7" fmla="*/ 4504380 w 8140446"/>
              <a:gd name="connsiteY7" fmla="*/ 0 h 13716"/>
              <a:gd name="connsiteX8" fmla="*/ 5101346 w 8140446"/>
              <a:gd name="connsiteY8" fmla="*/ 0 h 13716"/>
              <a:gd name="connsiteX9" fmla="*/ 5779717 w 8140446"/>
              <a:gd name="connsiteY9" fmla="*/ 0 h 13716"/>
              <a:gd name="connsiteX10" fmla="*/ 6620896 w 8140446"/>
              <a:gd name="connsiteY10" fmla="*/ 0 h 13716"/>
              <a:gd name="connsiteX11" fmla="*/ 7136458 w 8140446"/>
              <a:gd name="connsiteY11" fmla="*/ 0 h 13716"/>
              <a:gd name="connsiteX12" fmla="*/ 8140446 w 8140446"/>
              <a:gd name="connsiteY12" fmla="*/ 0 h 13716"/>
              <a:gd name="connsiteX13" fmla="*/ 8140446 w 8140446"/>
              <a:gd name="connsiteY13" fmla="*/ 13716 h 13716"/>
              <a:gd name="connsiteX14" fmla="*/ 7543480 w 8140446"/>
              <a:gd name="connsiteY14" fmla="*/ 13716 h 13716"/>
              <a:gd name="connsiteX15" fmla="*/ 7109323 w 8140446"/>
              <a:gd name="connsiteY15" fmla="*/ 13716 h 13716"/>
              <a:gd name="connsiteX16" fmla="*/ 6430952 w 8140446"/>
              <a:gd name="connsiteY16" fmla="*/ 13716 h 13716"/>
              <a:gd name="connsiteX17" fmla="*/ 5915391 w 8140446"/>
              <a:gd name="connsiteY17" fmla="*/ 13716 h 13716"/>
              <a:gd name="connsiteX18" fmla="*/ 5237020 w 8140446"/>
              <a:gd name="connsiteY18" fmla="*/ 13716 h 13716"/>
              <a:gd name="connsiteX19" fmla="*/ 4558650 w 8140446"/>
              <a:gd name="connsiteY19" fmla="*/ 13716 h 13716"/>
              <a:gd name="connsiteX20" fmla="*/ 3880279 w 8140446"/>
              <a:gd name="connsiteY20" fmla="*/ 13716 h 13716"/>
              <a:gd name="connsiteX21" fmla="*/ 3201909 w 8140446"/>
              <a:gd name="connsiteY21" fmla="*/ 13716 h 13716"/>
              <a:gd name="connsiteX22" fmla="*/ 2604943 w 8140446"/>
              <a:gd name="connsiteY22" fmla="*/ 13716 h 13716"/>
              <a:gd name="connsiteX23" fmla="*/ 1845168 w 8140446"/>
              <a:gd name="connsiteY23" fmla="*/ 13716 h 13716"/>
              <a:gd name="connsiteX24" fmla="*/ 1166797 w 8140446"/>
              <a:gd name="connsiteY24" fmla="*/ 13716 h 13716"/>
              <a:gd name="connsiteX25" fmla="*/ 0 w 8140446"/>
              <a:gd name="connsiteY25" fmla="*/ 13716 h 13716"/>
              <a:gd name="connsiteX26" fmla="*/ 0 w 8140446"/>
              <a:gd name="connsiteY2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8650" y="1447038"/>
            <a:ext cx="7886700" cy="3188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/>
              <a:t>01  Chapter 1: Fault Distribution and Impact Analysis - Data Summary</a:t>
            </a:r>
            <a:endParaRPr lang="en-US" sz="900"/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/>
              <a:t>CCTV systems experience the highest fault rates, primarily due to image quality and optical issues such as Frozen Image, Focus Drift, and Lens Dirty, indicating a need for enhanced maintenance protocols.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/>
              <a:t>Electrical failures, notably Fuse Blown incidents, are predominant in Biometric Readers and NVR systems, underscoring the importance of robust power management and regular electrical inspections.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/>
              <a:t>Mechanical and network faults, including Limit Switch Fail, Barrier Arm Stuck, Network Loss, and NVR Crash, affect multiple systems and require cross-functional attention for improved reliability.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/>
              <a:t>The Control Room and Main Gate are identified as critical operational bottlenecks, with the highest average downtime impact and incident counts, making them priority areas for risk mitigation.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/>
              <a:t>Zones such as the HR Office and Parking Area present minimal downtime impact, suggesting limited potential for risk reduction and lower priority for resource allocation.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/>
              <a:t>Moderate-impact areas like the Admin Building, Storage Yard, and Workshop warrant secondary attention, with interventions prioritized based on incident frequency and impact.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/>
              <a:t>P2 incidents, despite lower volume, have the highest SLA breach rate, indicating unique process or resource challenges that require targeted compliance improvements.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/>
              <a:t>Manual reporting channels exhibit elevated SLA breach risk compared to automated sources, highlighting inefficiencies and the need for process optimization.</a:t>
            </a:r>
          </a:p>
        </p:txBody>
      </p:sp>
      <p:sp>
        <p:nvSpPr>
          <p:cNvPr id="2" name="Shape 0"/>
          <p:cNvSpPr/>
          <p:nvPr/>
        </p:nvSpPr>
        <p:spPr>
          <a:xfrm>
            <a:off x="365760" y="228600"/>
            <a:ext cx="91440" cy="36576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 Insights &amp; Recommendations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onnsiteX0" fmla="*/ 0 w 8140446"/>
              <a:gd name="connsiteY0" fmla="*/ 0 h 13716"/>
              <a:gd name="connsiteX1" fmla="*/ 434157 w 8140446"/>
              <a:gd name="connsiteY1" fmla="*/ 0 h 13716"/>
              <a:gd name="connsiteX2" fmla="*/ 1193932 w 8140446"/>
              <a:gd name="connsiteY2" fmla="*/ 0 h 13716"/>
              <a:gd name="connsiteX3" fmla="*/ 1628089 w 8140446"/>
              <a:gd name="connsiteY3" fmla="*/ 0 h 13716"/>
              <a:gd name="connsiteX4" fmla="*/ 2225055 w 8140446"/>
              <a:gd name="connsiteY4" fmla="*/ 0 h 13716"/>
              <a:gd name="connsiteX5" fmla="*/ 3066235 w 8140446"/>
              <a:gd name="connsiteY5" fmla="*/ 0 h 13716"/>
              <a:gd name="connsiteX6" fmla="*/ 3744605 w 8140446"/>
              <a:gd name="connsiteY6" fmla="*/ 0 h 13716"/>
              <a:gd name="connsiteX7" fmla="*/ 4504380 w 8140446"/>
              <a:gd name="connsiteY7" fmla="*/ 0 h 13716"/>
              <a:gd name="connsiteX8" fmla="*/ 5101346 w 8140446"/>
              <a:gd name="connsiteY8" fmla="*/ 0 h 13716"/>
              <a:gd name="connsiteX9" fmla="*/ 5779717 w 8140446"/>
              <a:gd name="connsiteY9" fmla="*/ 0 h 13716"/>
              <a:gd name="connsiteX10" fmla="*/ 6620896 w 8140446"/>
              <a:gd name="connsiteY10" fmla="*/ 0 h 13716"/>
              <a:gd name="connsiteX11" fmla="*/ 7136458 w 8140446"/>
              <a:gd name="connsiteY11" fmla="*/ 0 h 13716"/>
              <a:gd name="connsiteX12" fmla="*/ 8140446 w 8140446"/>
              <a:gd name="connsiteY12" fmla="*/ 0 h 13716"/>
              <a:gd name="connsiteX13" fmla="*/ 8140446 w 8140446"/>
              <a:gd name="connsiteY13" fmla="*/ 13716 h 13716"/>
              <a:gd name="connsiteX14" fmla="*/ 7543480 w 8140446"/>
              <a:gd name="connsiteY14" fmla="*/ 13716 h 13716"/>
              <a:gd name="connsiteX15" fmla="*/ 7109323 w 8140446"/>
              <a:gd name="connsiteY15" fmla="*/ 13716 h 13716"/>
              <a:gd name="connsiteX16" fmla="*/ 6430952 w 8140446"/>
              <a:gd name="connsiteY16" fmla="*/ 13716 h 13716"/>
              <a:gd name="connsiteX17" fmla="*/ 5915391 w 8140446"/>
              <a:gd name="connsiteY17" fmla="*/ 13716 h 13716"/>
              <a:gd name="connsiteX18" fmla="*/ 5237020 w 8140446"/>
              <a:gd name="connsiteY18" fmla="*/ 13716 h 13716"/>
              <a:gd name="connsiteX19" fmla="*/ 4558650 w 8140446"/>
              <a:gd name="connsiteY19" fmla="*/ 13716 h 13716"/>
              <a:gd name="connsiteX20" fmla="*/ 3880279 w 8140446"/>
              <a:gd name="connsiteY20" fmla="*/ 13716 h 13716"/>
              <a:gd name="connsiteX21" fmla="*/ 3201909 w 8140446"/>
              <a:gd name="connsiteY21" fmla="*/ 13716 h 13716"/>
              <a:gd name="connsiteX22" fmla="*/ 2604943 w 8140446"/>
              <a:gd name="connsiteY22" fmla="*/ 13716 h 13716"/>
              <a:gd name="connsiteX23" fmla="*/ 1845168 w 8140446"/>
              <a:gd name="connsiteY23" fmla="*/ 13716 h 13716"/>
              <a:gd name="connsiteX24" fmla="*/ 1166797 w 8140446"/>
              <a:gd name="connsiteY24" fmla="*/ 13716 h 13716"/>
              <a:gd name="connsiteX25" fmla="*/ 0 w 8140446"/>
              <a:gd name="connsiteY25" fmla="*/ 13716 h 13716"/>
              <a:gd name="connsiteX26" fmla="*/ 0 w 8140446"/>
              <a:gd name="connsiteY2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8650" y="1447038"/>
            <a:ext cx="7886700" cy="31889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/>
              <a:t>Resolution Performance and Root Cause Analysis: Data Summary</a:t>
            </a:r>
            <a:endParaRPr lang="en-US" sz="1200" dirty="0"/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The Electrical department exhibits the longest average incident resolution time (243.9 minutes), indicating process inefficiencies compared to Security (160.7 minutes).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Maintenance department leads in SLA compliance, resolving 83 incidents within SLA, significantly outperforming other departments (56–60 incidents).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Security achieves the fastest resolution times, while Maintenance excels in SLA adherence, highlighting a trade-off between speed and quality.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Software and human error incidents show high volatility, with notable monthly spikes, representing key operational risks.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Power-related incidents display seasonal peaks, suggesting underlying infrastructure vulnerabilities that require attention.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Hardware incident frequency remains stable, but software incidents are rising, reflecting increased reliance on software systems.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Top performers (</a:t>
            </a:r>
            <a:r>
              <a:rPr lang="en-US" sz="1200" dirty="0" err="1"/>
              <a:t>V.Kumar</a:t>
            </a:r>
            <a:r>
              <a:rPr lang="en-US" sz="1200" dirty="0"/>
              <a:t>, Rajveer Singh, Surbhi Patel) account for a substantial share of incident resolutions, indicating potential for peer-led process improvement.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Resolution time varies significantly among staff, with a 30.72-minute gap between the fastest (</a:t>
            </a:r>
            <a:r>
              <a:rPr lang="en-US" sz="1200" dirty="0" err="1"/>
              <a:t>M.Chen</a:t>
            </a:r>
            <a:r>
              <a:rPr lang="en-US" sz="1200" dirty="0"/>
              <a:t>) and slowest (Surbhi Patel) resolvers, highlighting efficiency improvement opportunities</a:t>
            </a:r>
            <a:r>
              <a:rPr lang="en-US" sz="700" dirty="0"/>
              <a:t>.</a:t>
            </a:r>
          </a:p>
        </p:txBody>
      </p:sp>
      <p:sp>
        <p:nvSpPr>
          <p:cNvPr id="2" name="Shape 0"/>
          <p:cNvSpPr/>
          <p:nvPr/>
        </p:nvSpPr>
        <p:spPr>
          <a:xfrm>
            <a:off x="365760" y="228600"/>
            <a:ext cx="91440" cy="36576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 Report Summary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onnsiteX0" fmla="*/ 0 w 8140446"/>
              <a:gd name="connsiteY0" fmla="*/ 0 h 13716"/>
              <a:gd name="connsiteX1" fmla="*/ 434157 w 8140446"/>
              <a:gd name="connsiteY1" fmla="*/ 0 h 13716"/>
              <a:gd name="connsiteX2" fmla="*/ 1193932 w 8140446"/>
              <a:gd name="connsiteY2" fmla="*/ 0 h 13716"/>
              <a:gd name="connsiteX3" fmla="*/ 1628089 w 8140446"/>
              <a:gd name="connsiteY3" fmla="*/ 0 h 13716"/>
              <a:gd name="connsiteX4" fmla="*/ 2225055 w 8140446"/>
              <a:gd name="connsiteY4" fmla="*/ 0 h 13716"/>
              <a:gd name="connsiteX5" fmla="*/ 3066235 w 8140446"/>
              <a:gd name="connsiteY5" fmla="*/ 0 h 13716"/>
              <a:gd name="connsiteX6" fmla="*/ 3744605 w 8140446"/>
              <a:gd name="connsiteY6" fmla="*/ 0 h 13716"/>
              <a:gd name="connsiteX7" fmla="*/ 4504380 w 8140446"/>
              <a:gd name="connsiteY7" fmla="*/ 0 h 13716"/>
              <a:gd name="connsiteX8" fmla="*/ 5101346 w 8140446"/>
              <a:gd name="connsiteY8" fmla="*/ 0 h 13716"/>
              <a:gd name="connsiteX9" fmla="*/ 5779717 w 8140446"/>
              <a:gd name="connsiteY9" fmla="*/ 0 h 13716"/>
              <a:gd name="connsiteX10" fmla="*/ 6620896 w 8140446"/>
              <a:gd name="connsiteY10" fmla="*/ 0 h 13716"/>
              <a:gd name="connsiteX11" fmla="*/ 7136458 w 8140446"/>
              <a:gd name="connsiteY11" fmla="*/ 0 h 13716"/>
              <a:gd name="connsiteX12" fmla="*/ 8140446 w 8140446"/>
              <a:gd name="connsiteY12" fmla="*/ 0 h 13716"/>
              <a:gd name="connsiteX13" fmla="*/ 8140446 w 8140446"/>
              <a:gd name="connsiteY13" fmla="*/ 13716 h 13716"/>
              <a:gd name="connsiteX14" fmla="*/ 7543480 w 8140446"/>
              <a:gd name="connsiteY14" fmla="*/ 13716 h 13716"/>
              <a:gd name="connsiteX15" fmla="*/ 7109323 w 8140446"/>
              <a:gd name="connsiteY15" fmla="*/ 13716 h 13716"/>
              <a:gd name="connsiteX16" fmla="*/ 6430952 w 8140446"/>
              <a:gd name="connsiteY16" fmla="*/ 13716 h 13716"/>
              <a:gd name="connsiteX17" fmla="*/ 5915391 w 8140446"/>
              <a:gd name="connsiteY17" fmla="*/ 13716 h 13716"/>
              <a:gd name="connsiteX18" fmla="*/ 5237020 w 8140446"/>
              <a:gd name="connsiteY18" fmla="*/ 13716 h 13716"/>
              <a:gd name="connsiteX19" fmla="*/ 4558650 w 8140446"/>
              <a:gd name="connsiteY19" fmla="*/ 13716 h 13716"/>
              <a:gd name="connsiteX20" fmla="*/ 3880279 w 8140446"/>
              <a:gd name="connsiteY20" fmla="*/ 13716 h 13716"/>
              <a:gd name="connsiteX21" fmla="*/ 3201909 w 8140446"/>
              <a:gd name="connsiteY21" fmla="*/ 13716 h 13716"/>
              <a:gd name="connsiteX22" fmla="*/ 2604943 w 8140446"/>
              <a:gd name="connsiteY22" fmla="*/ 13716 h 13716"/>
              <a:gd name="connsiteX23" fmla="*/ 1845168 w 8140446"/>
              <a:gd name="connsiteY23" fmla="*/ 13716 h 13716"/>
              <a:gd name="connsiteX24" fmla="*/ 1166797 w 8140446"/>
              <a:gd name="connsiteY24" fmla="*/ 13716 h 13716"/>
              <a:gd name="connsiteX25" fmla="*/ 0 w 8140446"/>
              <a:gd name="connsiteY25" fmla="*/ 13716 h 13716"/>
              <a:gd name="connsiteX26" fmla="*/ 0 w 8140446"/>
              <a:gd name="connsiteY2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8650" y="1447038"/>
            <a:ext cx="7886700" cy="3188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00" b="1" dirty="0"/>
              <a:t>01  Incident Resolution Data Analysis - Professional Summary</a:t>
            </a:r>
            <a:endParaRPr lang="en-US" sz="700" dirty="0"/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dirty="0"/>
              <a:t>CCTV systems exhibit the highest fault rates, primarily due to image quality and optical issues, necessitating improved maintenance protocols.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dirty="0"/>
              <a:t>Electrical failures, especially Fuse Blown incidents, are most prevalent in Biometric Readers and NVR systems, highlighting the need for robust power management.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dirty="0"/>
              <a:t>Mechanical and network faults impact multiple systems, requiring cross-functional attention for enhanced reliability.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dirty="0"/>
              <a:t>The Control Room and Main Gate are critical operational bottlenecks with the highest downtime and incident counts, making them priority areas for risk mitigation.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dirty="0"/>
              <a:t>Low-impact zones such as the HR Office and Parking Area present minimal downtime, suggesting lower priority for resource allocation.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dirty="0"/>
              <a:t>Moderate-impact areas like the Admin Building, Storage Yard, and Workshop warrant secondary attention based on incident frequency and impact.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dirty="0"/>
              <a:t>P2 incidents have the highest SLA breach rate despite lower volume, indicating unique process challenges needing targeted compliance improvements.</a:t>
            </a:r>
          </a:p>
          <a:p>
            <a:pPr marL="6858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dirty="0"/>
              <a:t>Manual reporting channels show elevated SLA breach risk compared to automated sources, highlighting inefficiencies in current processes.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700" dirty="0"/>
          </a:p>
        </p:txBody>
      </p:sp>
      <p:sp>
        <p:nvSpPr>
          <p:cNvPr id="2" name="Shape 0"/>
          <p:cNvSpPr/>
          <p:nvPr/>
        </p:nvSpPr>
        <p:spPr>
          <a:xfrm>
            <a:off x="365760" y="228600"/>
            <a:ext cx="91440" cy="36576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629</Words>
  <Application>Microsoft Office PowerPoint</Application>
  <PresentationFormat>On-screen Show (16:9)</PresentationFormat>
  <Paragraphs>34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ravindra singh rathore</cp:lastModifiedBy>
  <cp:revision>5</cp:revision>
  <dcterms:created xsi:type="dcterms:W3CDTF">2025-11-08T05:06:06Z</dcterms:created>
  <dcterms:modified xsi:type="dcterms:W3CDTF">2025-11-13T13:57:55Z</dcterms:modified>
</cp:coreProperties>
</file>